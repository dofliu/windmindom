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B3C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 NCUT  ·  DOF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spc="2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800" kern="0" dirty="0">
                <a:solidFill>
                  <a:srgbClr val="DCE3DD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離岸風場運維廠商工具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743200" cy="0"/>
          </a:xfrm>
          <a:prstGeom prst="line">
            <a:avLst/>
          </a:prstGeom>
          <a:noFill/>
          <a:ln w="9525">
            <a:solidFill>
              <a:srgbClr val="8FA8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434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2CC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在一個 UI 看到 SCADA、庫存派工、成本計算、警報手冊查詢 — 取代你現在的 Excel + LINE + 紙單。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5C7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0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Pitch Deck v0.8.1  ·  May 2026  ·  Operator-focused Wind Farm O&amp;M Tool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31352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moredof@gmail.com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01  —  PAIN POINT  —  痛點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運維廠商每天的工作型態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ICP：運維廠商（O&amp;M service provider） · 競品 = Excel + LINE + 紙單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 WHO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同時為 3-5 家業主服務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5-10 個風場、3 種 OEM 機型混搭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中小企業（年營收 NT$50-500M）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決策層級短：老闆 + 技術主管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 WHAT THEY USE TODAY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庫存散在各風場倉庫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派工靠 LINE 群組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成本估算靠 Excel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業主要 LCOE 報告 → 找會 ECN 的顧問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9525">
            <a:solidFill>
              <a:srgbClr val="5C7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spc="200" kern="0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→  痛點清楚到不行，但沒有一個聚焦的工具。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Pain Point  /  痛點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02  —  SOLUTION  —  解法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 modules 整合在一個 UI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"取代你現在的 Excel + LINE + 紙單組合"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6089904" y="1897380"/>
            <a:ext cx="0" cy="2125980"/>
          </a:xfrm>
          <a:prstGeom prst="line">
            <a:avLst/>
          </a:prstGeom>
          <a:noFill/>
          <a:ln w="6350">
            <a:solidFill>
              <a:srgbClr val="5C7A6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6089904" y="3268980"/>
            <a:ext cx="2286000" cy="754380"/>
          </a:xfrm>
          <a:prstGeom prst="line">
            <a:avLst/>
          </a:prstGeom>
          <a:noFill/>
          <a:ln w="6350">
            <a:solidFill>
              <a:srgbClr val="5C7A6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89904" y="4023360"/>
            <a:ext cx="1828800" cy="1714500"/>
          </a:xfrm>
          <a:prstGeom prst="line">
            <a:avLst/>
          </a:prstGeom>
          <a:noFill/>
          <a:ln w="6350">
            <a:solidFill>
              <a:srgbClr val="5C7A6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H="1">
            <a:off x="4261104" y="4023360"/>
            <a:ext cx="1828800" cy="1714500"/>
          </a:xfrm>
          <a:prstGeom prst="line">
            <a:avLst/>
          </a:prstGeom>
          <a:noFill/>
          <a:ln w="6350">
            <a:solidFill>
              <a:srgbClr val="5C7A6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H="1" flipV="1">
            <a:off x="3803904" y="3268980"/>
            <a:ext cx="2286000" cy="754380"/>
          </a:xfrm>
          <a:prstGeom prst="line">
            <a:avLst/>
          </a:prstGeom>
          <a:noFill/>
          <a:ln w="6350">
            <a:solidFill>
              <a:srgbClr val="5C7A6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09744" y="3611880"/>
            <a:ext cx="2560320" cy="822960"/>
          </a:xfrm>
          <a:prstGeom prst="rect">
            <a:avLst/>
          </a:prstGeom>
          <a:solidFill>
            <a:srgbClr val="1F3A2E"/>
          </a:solidFill>
          <a:ln w="6350">
            <a:solidFill>
              <a:srgbClr val="1F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84064" y="1554480"/>
            <a:ext cx="2011680" cy="685800"/>
          </a:xfrm>
          <a:prstGeom prst="rect">
            <a:avLst/>
          </a:prstGeom>
          <a:solidFill>
            <a:srgbClr val="FAF7F0"/>
          </a:solidFill>
          <a:ln w="9525">
            <a:solidFill>
              <a:srgbClr val="5C7A6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監控  SCADA</a:t>
            </a:r>
            <a:endParaRPr lang="en-US" sz="13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Z72 PLC / 物理模擬器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70064" y="2926080"/>
            <a:ext cx="2011680" cy="685800"/>
          </a:xfrm>
          <a:prstGeom prst="rect">
            <a:avLst/>
          </a:prstGeom>
          <a:solidFill>
            <a:srgbClr val="FAF7F0"/>
          </a:solidFill>
          <a:ln w="9525">
            <a:solidFill>
              <a:srgbClr val="5C7A6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庫存派工</a:t>
            </a:r>
            <a:endParaRPr lang="en-US" sz="13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工單 + 多階簽核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2864" y="5394960"/>
            <a:ext cx="2011680" cy="685800"/>
          </a:xfrm>
          <a:prstGeom prst="rect">
            <a:avLst/>
          </a:prstGeom>
          <a:solidFill>
            <a:srgbClr val="FAF7F0"/>
          </a:solidFill>
          <a:ln w="9525">
            <a:solidFill>
              <a:srgbClr val="5C7A6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成本  ECN</a:t>
            </a:r>
            <a:endParaRPr lang="en-US" sz="13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可用度 / LCOE / 預測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55264" y="5394960"/>
            <a:ext cx="2011680" cy="685800"/>
          </a:xfrm>
          <a:prstGeom prst="rect">
            <a:avLst/>
          </a:prstGeom>
          <a:solidFill>
            <a:srgbClr val="FAF7F0"/>
          </a:solidFill>
          <a:ln w="9525">
            <a:solidFill>
              <a:srgbClr val="5C7A6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報表</a:t>
            </a:r>
            <a:endParaRPr lang="en-US" sz="13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月報 PDF + Gantt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98064" y="2926080"/>
            <a:ext cx="2011680" cy="685800"/>
          </a:xfrm>
          <a:prstGeom prst="rect">
            <a:avLst/>
          </a:prstGeom>
          <a:solidFill>
            <a:srgbClr val="FAF7F0"/>
          </a:solidFill>
          <a:ln w="9525">
            <a:solidFill>
              <a:srgbClr val="5C7A6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警報  RAG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30 秒查到手冊段落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8978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Basic 套餐就含 RAG  —  給工程師的甜頭，提升 PMF。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Solution  /  五大模組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03  —  WHY NOW  —  為什麼是 2026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三條獨立 timeline，剛好交會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453384" cy="457200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 —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453384" cy="283464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OEM 連番出包</a:t>
            </a:r>
            <a:endParaRPr lang="en-US" sz="18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SGRE 葉片召回、Vestas 齒輪箱集中故障 → 業主自建監測動力上升 → 運維廠商接更多獨立委外案。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67784" y="2286000"/>
            <a:ext cx="3453384" cy="457200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 —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67784" y="2743200"/>
            <a:ext cx="3453384" cy="283464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第三階段風場商轉</a:t>
            </a:r>
            <a:endParaRPr lang="en-US" sz="18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新風場大量投產，運維廠商需求量大增；機型混搭（Z72 / Vestas / SGRE / MingYang）成為日常。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86928" y="2286000"/>
            <a:ext cx="3453384" cy="457200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86928" y="2743200"/>
            <a:ext cx="3453384" cy="283464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ECN Tool 5.0 的缺口</a:t>
            </a:r>
            <a:endParaRPr lang="en-US" sz="18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業界事實標準 ECN Tool 5.0 只有 Excel + VBA、沒有 API。Python 移植 + workflow 整合 = 我們的差異化。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→  不是 me-too，是 timing 對 + 技術剛好 ready。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Why Now  /  時機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04  —  KILLER FEATURE  —  獨家賣點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Simulator-first  —  Demo 不需要你先給資料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4997196" cy="457200"/>
          </a:xfrm>
          <a:prstGeom prst="rect">
            <a:avLst/>
          </a:prstGeom>
          <a:solidFill>
            <a:srgbClr val="E8ED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競品現況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4997196" cy="27432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304800" tIns="304800" rIns="304800" bIns="30480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1.  客戶簽 NDA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2.  客戶提供 SCADA 歷史資料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3.  我們花 2-4 週做 demo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4.  客戶才看到產品實際運作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45836" y="3429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643116" y="2286000"/>
            <a:ext cx="4997196" cy="457200"/>
          </a:xfrm>
          <a:prstGeom prst="rect">
            <a:avLst/>
          </a:prstGeom>
          <a:solidFill>
            <a:srgbClr val="1F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43116" y="2743200"/>
            <a:ext cx="4997196" cy="2743200"/>
          </a:xfrm>
          <a:prstGeom prst="rect">
            <a:avLst/>
          </a:prstGeom>
          <a:solidFill>
            <a:srgbClr val="FAF7F0"/>
          </a:solidFill>
          <a:ln w="9525">
            <a:solidFill>
              <a:srgbClr val="5C7A6A"/>
            </a:solidFill>
          </a:ln>
        </p:spPr>
        <p:txBody>
          <a:bodyPr wrap="square" lIns="304800" tIns="304800" rIns="304800" bIns="30480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1.  打開 simulator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2.  客戶當場看到 14 台風機運轉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3.  即時 SCADA、power curve、告警全可看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4.  切實機只需要換 adapter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76072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技術依據：digiWindTurbine 物理模擬器，14 台風機 · 109 SCADA tags · 11 fault scenarios · 18/21 quality check 通過。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Killer Feature  /  Simulator-first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05  —  COMPETITIVE LANDSCAPE  —  競品矩陣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沒有任何一家同時涵蓋這 7 列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78992"/>
                <a:gridCol w="1078992"/>
                <a:gridCol w="1078992"/>
                <a:gridCol w="1078992"/>
                <a:gridCol w="1078992"/>
                <a:gridCol w="1298448"/>
                <a:gridCol w="110642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SCADA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庫存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派工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簽核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成本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警報 RAG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模擬器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Excel + LINE + 紙單（現況）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散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慢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紙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Bazefield (NO)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ONYX InSight (UK)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部分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ECN / TNO Tool 5.0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SAP PM / IBM Maximo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Siemens MindSphere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OEM 自家 dashboard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—</a:t>
                      </a:r>
                      <a:endParaRPr lang="en-US" sz="110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windMindOM</a:t>
                      </a:r>
                      <a:endParaRPr lang="en-US" sz="115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</a:t>
                      </a:r>
                      <a:endParaRPr lang="en-US" sz="115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5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5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5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5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5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Noto Serif CJK TC" pitchFamily="34" charset="0"/>
                          <a:ea typeface="Noto Serif CJK TC" pitchFamily="34" charset="-122"/>
                          <a:cs typeface="Noto Serif CJK TC" pitchFamily="34" charset="-120"/>
                        </a:rPr>
                        <a:t>✓✓</a:t>
                      </a:r>
                      <a:endParaRPr lang="en-US" sz="1150" dirty="0">
                        <a:latin typeface="Noto Serif CJK TC" charset="0"/>
                        <a:ea typeface="Noto Serif CJK TC" charset="0"/>
                        <a:cs typeface="Noto Serif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→  重點不是「我們最強」，是「整合度」沒人達到。警報 RAG + 模擬器是兩個獨家欄。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Competitive  /  競品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06  —  BUSINESS MODEL  —  商業模式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三層套餐 + 預算錨點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0956" y="3108960"/>
            <a:ext cx="3383280" cy="1828800"/>
          </a:xfrm>
          <a:prstGeom prst="rect">
            <a:avLst/>
          </a:prstGeom>
          <a:solidFill>
            <a:srgbClr val="5C7A6A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OM-Operator  Basic</a:t>
            </a:r>
            <a:endParaRPr lang="en-US" sz="14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DCE3DD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監控 + 庫存 + 派工 + 報表 + 基本 RAG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NT$20-40k / turbine / 年</a:t>
            </a:r>
            <a:endParaRPr lang="en-US" sz="14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3C2B6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或 NT$2-4M 一次性 + 維護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02836" y="2651760"/>
            <a:ext cx="3383280" cy="2286000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OM-Operator  Pro</a:t>
            </a:r>
            <a:endParaRPr lang="en-US" sz="14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DCE3DD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+ Cost engine（ECN-style）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+ NT$10-20k / turbine / 年</a:t>
            </a:r>
            <a:endParaRPr lang="en-US" sz="14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3C2B6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可用度 / LCOE / 預測 vs 實際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14716" y="2194560"/>
            <a:ext cx="3383280" cy="2743200"/>
          </a:xfrm>
          <a:prstGeom prst="rect">
            <a:avLst/>
          </a:prstGeom>
          <a:solidFill>
            <a:srgbClr val="1F3A2E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OM-Operator  Enterprise</a:t>
            </a:r>
            <a:endParaRPr lang="en-US" sz="14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DCE3DD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+ windAILab AI 診斷 + InduSpect 定檢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+ revenue share with partners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3C2B6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API 整合，不重做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5C7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406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spc="400" kern="0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"  月費比少請半個工程師便宜  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第一筆收入路徑：3 個月部署 Basic → NT$2-4M / 單一客戶 LTV ≈ NT$5-10M（前 2 年）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Business Model  /  套餐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07  —  FIRST CUSTOMER  —  首發客戶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Z72 機型運維廠商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為什麼選 Z72 為首發 + 3 個月可交付什麼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567178" cy="365760"/>
          </a:xfrm>
          <a:prstGeom prst="rect">
            <a:avLst/>
          </a:prstGeom>
          <a:solidFill>
            <a:srgbClr val="E8EDE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567178" cy="118872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 repo 都有 Z72 真資料</a:t>
            </a:r>
            <a:endParaRPr lang="en-US" sz="135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z72hmi · z72_etech · digiWT simulator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90138" y="2286000"/>
            <a:ext cx="2567178" cy="365760"/>
          </a:xfrm>
          <a:prstGeom prst="rect">
            <a:avLst/>
          </a:prstGeom>
          <a:solidFill>
            <a:srgbClr val="E8EDE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90138" y="2651760"/>
            <a:ext cx="2567178" cy="118872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 OEM 合作門檻</a:t>
            </a:r>
            <a:endParaRPr lang="en-US" sz="135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Harakosan/Zephyros 已退出市場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31636" y="2286000"/>
            <a:ext cx="2567178" cy="365760"/>
          </a:xfrm>
          <a:prstGeom prst="rect">
            <a:avLst/>
          </a:prstGeom>
          <a:solidFill>
            <a:srgbClr val="E8EDE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31636" y="2651760"/>
            <a:ext cx="2567178" cy="118872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z72hmi 即實機運轉</a:t>
            </a:r>
            <a:endParaRPr lang="en-US" sz="135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"我們已在運維他們同款機"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073134" y="2286000"/>
            <a:ext cx="2567178" cy="365760"/>
          </a:xfrm>
          <a:prstGeom prst="rect">
            <a:avLst/>
          </a:prstGeom>
          <a:solidFill>
            <a:srgbClr val="E8EDE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073134" y="2651760"/>
            <a:ext cx="2567178" cy="118872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PLC 已驗證</a:t>
            </a:r>
            <a:endParaRPr lang="en-US" sz="135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Bachmann M1 立刻可上線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 3-MONTH DELIVERABLES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Dashboard：即時 SCADA + 告警 + 工單 + 成本檢視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工作流：派工 / 庫存 / 多階簽核全跑通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警報 RAG：現場工程師手機可查（mobile-friendly /field/）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—"/>
            </a:pPr>
            <a:r>
              <a:rPr lang="en-US" sz="1350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報表：5 年 O&amp;M 預算 + 排程 Gantt（PDF 月報）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First Customer  /  Z72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08  —  ROADMAP  —  6 個月路線圖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一日一項重要工作  ·  一月一 module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1091672" cy="0"/>
          </a:xfrm>
          <a:prstGeom prst="line">
            <a:avLst/>
          </a:prstGeom>
          <a:noFill/>
          <a:ln w="19050">
            <a:solidFill>
              <a:srgbClr val="5C7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8486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848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08938" y="2999232"/>
            <a:ext cx="128016" cy="128016"/>
          </a:xfrm>
          <a:prstGeom prst="ellipse">
            <a:avLst/>
          </a:prstGeom>
          <a:solidFill>
            <a:srgbClr val="2D4A3E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337560"/>
            <a:ext cx="1757172" cy="20574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Setup</a:t>
            </a:r>
            <a:endParaRPr lang="en-US" sz="14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repo baseline · friendly 客戶接觸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97252" y="2286000"/>
            <a:ext cx="18486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97252" y="2651760"/>
            <a:ext cx="1848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57550" y="2999232"/>
            <a:ext cx="128016" cy="128016"/>
          </a:xfrm>
          <a:prstGeom prst="ellipse">
            <a:avLst/>
          </a:prstGeom>
          <a:solidFill>
            <a:srgbClr val="2D4A3E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2972" y="3337560"/>
            <a:ext cx="1757172" cy="20574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Cost</a:t>
            </a:r>
            <a:endParaRPr lang="en-US" sz="14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ECN 移植 · K13 dataset 跑通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45864" y="2286000"/>
            <a:ext cx="18486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45864" y="2651760"/>
            <a:ext cx="1848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06162" y="2999232"/>
            <a:ext cx="128016" cy="128016"/>
          </a:xfrm>
          <a:prstGeom prst="ellipse">
            <a:avLst/>
          </a:prstGeom>
          <a:solidFill>
            <a:srgbClr val="2D4A3E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1584" y="3337560"/>
            <a:ext cx="1757172" cy="20574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Workflow Pt.1</a:t>
            </a:r>
            <a:endParaRPr lang="en-US" sz="14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Work Order + Approval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4476" y="2286000"/>
            <a:ext cx="18486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4476" y="2651760"/>
            <a:ext cx="1848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54774" y="2999232"/>
            <a:ext cx="128016" cy="128016"/>
          </a:xfrm>
          <a:prstGeom prst="ellipse">
            <a:avLst/>
          </a:prstGeom>
          <a:solidFill>
            <a:srgbClr val="2D4A3E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0196" y="3337560"/>
            <a:ext cx="1757172" cy="20574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Workflow Pt.2</a:t>
            </a:r>
            <a:endParaRPr lang="en-US" sz="14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Inventory + Reporting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43088" y="2286000"/>
            <a:ext cx="18486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43088" y="2651760"/>
            <a:ext cx="1848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803386" y="2999232"/>
            <a:ext cx="128016" cy="128016"/>
          </a:xfrm>
          <a:prstGeom prst="ellipse">
            <a:avLst/>
          </a:prstGeom>
          <a:solidFill>
            <a:srgbClr val="2D4A3E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88808" y="3337560"/>
            <a:ext cx="1757172" cy="20574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Knowledge</a:t>
            </a:r>
            <a:endParaRPr lang="en-US" sz="14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RAG + mobile /field/ UI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91700" y="2286000"/>
            <a:ext cx="18486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91700" y="2651760"/>
            <a:ext cx="1848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651998" y="2999232"/>
            <a:ext cx="128016" cy="128016"/>
          </a:xfrm>
          <a:prstGeom prst="ellipse">
            <a:avLst/>
          </a:prstGeom>
          <a:solidFill>
            <a:srgbClr val="1F3A2E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37420" y="3337560"/>
            <a:ext cx="1757172" cy="2057400"/>
          </a:xfrm>
          <a:prstGeom prst="rect">
            <a:avLst/>
          </a:prstGeom>
          <a:solidFill>
            <a:srgbClr val="E8EDE9"/>
          </a:solidFill>
          <a:ln w="9525">
            <a:solidFill>
              <a:srgbClr val="5C7A6A"/>
            </a:solidFill>
          </a:ln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PoC</a:t>
            </a:r>
            <a:endParaRPr lang="en-US" sz="14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Z72 運維廠商 · 第一筆合約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85216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→  6 個月 vs v0.5 估算的 12-18 個月 — 因為砍掉 plugin SDK / Workflow Hub 等過度工程。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Roadmap  /  6 個月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09  —  ASK  —  我們需要的幫助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三個目標群組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3514344" cy="411480"/>
          </a:xfrm>
          <a:prstGeom prst="rect">
            <a:avLst/>
          </a:prstGeom>
          <a:solidFill>
            <a:srgbClr val="1F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Friendly 客戶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514344" cy="260604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找 1-2 家 Z72 機型運維廠商作 pilot</a:t>
            </a:r>
            <a:endParaRPr lang="en-US" sz="14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 個月 NT$2-4M 部署 Basic 套餐，先用 simulator demo，再切實機。失敗風險低，因為 Z72 整套技術鏈已驗證。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37304" y="2240280"/>
            <a:ext cx="3514344" cy="411480"/>
          </a:xfrm>
          <a:prstGeom prst="rect">
            <a:avLst/>
          </a:prstGeom>
          <a:solidFill>
            <a:srgbClr val="1F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國科會 / 計畫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37304" y="2651760"/>
            <a:ext cx="3514344" cy="260604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送「能源科技整合型計畫」（2026 H2）</a:t>
            </a:r>
            <a:endParaRPr lang="en-US" sz="14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主題：「離岸風場運維廠商整合決策工具」。跨領域組合（電機 + AI + 工管），論文線已 ready。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5968" y="2240280"/>
            <a:ext cx="3514344" cy="411480"/>
          </a:xfrm>
          <a:prstGeom prst="rect">
            <a:avLst/>
          </a:prstGeom>
          <a:solidFill>
            <a:srgbClr val="1F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投資人 / 共創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5968" y="2651760"/>
            <a:ext cx="3514344" cy="260604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首輪 NT$3-5M 開發預算</a:t>
            </a:r>
            <a:endParaRPr lang="en-US" sz="14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1-2 人團隊 6 個月，配合 1-2 家 pilot 客戶 LTV NT$5-10M × 2-3 = NT$10-30M。顧問案先建立 case study，再轉訂閱制。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91672" cy="0"/>
          </a:xfrm>
          <a:prstGeom prst="line">
            <a:avLst/>
          </a:prstGeom>
          <a:noFill/>
          <a:ln w="12700">
            <a:solidFill>
              <a:srgbClr val="5C7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596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劉瑞弘  Juihung Liu  ·  DOF Lab  ·  NCUT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moredof@gmail.com   ·   github.com/dofliu   ·   doflab.cc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Ask  /  Contact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A1  —  APPENDIX  —  兩條獨立論文線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Academic Track  ·  學術版補充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62956" cy="457200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A.  windMindOM 線（產品自身）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362956" cy="32004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Operator-focused Wind Farm O&amp;M Tool: Integrating SCADA, Inventory, Cost, and RAG-based Knowledge Retrieval</a:t>
            </a:r>
            <a:endParaRPr lang="en-US" sz="12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Applied Energy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and Crew Schedule Coupled Wind Farm O&amp;M Cost Model: Extending ECN Tool 5.0 with Real-time Workflow Data</a:t>
            </a:r>
            <a:endParaRPr lang="en-US" sz="12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Energy / Renewable Energy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77356" y="2103120"/>
            <a:ext cx="5362956" cy="457200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B.  RAG_Ultimate 線（partner research）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77356" y="2560320"/>
            <a:ext cx="5362956" cy="32004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Industrial Knowledge-Base RAG Benchmark for Wind Turbine O&amp;M</a:t>
            </a:r>
            <a:endParaRPr lang="en-US" sz="13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→  IEEE Trans. Industrial Informatics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Phase 3 進行中，windMindOM 提供應用場景驗證。</a:t>
            </a:r>
            <a:endParaRPr lang="en-US" sz="13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兩條線可彼此引用、共享資料集，但獨立投稿，不互相依賴。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Appendix A1  /  論文線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D4A3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A2  —  APPENDIX  —  計畫定位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Funding &amp; Programme Fit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463040" cy="1143000"/>
          </a:xfrm>
          <a:prstGeom prst="rect">
            <a:avLst/>
          </a:prstGeom>
          <a:solidFill>
            <a:srgbClr val="1F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國科會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2194560"/>
            <a:ext cx="9537192" cy="11430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能源科技整合型計畫</a:t>
            </a:r>
            <a:endParaRPr lang="en-US" sz="16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跨領域（電機 + AI + 工管 + 海洋工程）剛好打中。windMindOM 5 modules 對應「資料 + 決策 + 成本 + 知識」整合主題。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463040" cy="1143000"/>
          </a:xfrm>
          <a:prstGeom prst="rect">
            <a:avLst/>
          </a:prstGeom>
          <a:solidFill>
            <a:srgbClr val="1F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能源署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3520440"/>
            <a:ext cx="9537192" cy="11430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離岸風電在地化第三階段</a:t>
            </a:r>
            <a:endParaRPr lang="en-US" sz="16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派工 / 庫存 / 簽核 = 在地化軟體可搶位置的技術項目。台灣供應鏈在地化評分有此類軟體加分項。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1463040" cy="1143000"/>
          </a:xfrm>
          <a:prstGeom prst="rect">
            <a:avLst/>
          </a:prstGeom>
          <a:solidFill>
            <a:srgbClr val="1F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教育部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4846320"/>
            <a:ext cx="9537192" cy="114300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USR 大學社會責任</a:t>
            </a:r>
            <a:endParaRPr lang="en-US" sz="16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Simulator 模式可打包成大學風能實驗室教材 — 配合 NCUT 智動系既有風能課程。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76072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87044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→  學術價值與商業價值不衝突 — 同一份 codebase，兩條 narrative。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C9C2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73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 · v0.8.1 · 2026-05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0" y="647395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Appendix A2  /  計畫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59752" y="6473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windMindOM — 離岸風場運維廠商工具 (Pitch Deck v0.8.1)</dc:title>
  <dc:subject>PptxGenJS Presentation</dc:subject>
  <dc:creator>DOF Lab — 劉瑞弘</dc:creator>
  <cp:lastModifiedBy>DOF Lab — 劉瑞弘</cp:lastModifiedBy>
  <cp:revision>1</cp:revision>
  <dcterms:created xsi:type="dcterms:W3CDTF">2026-05-03T23:45:11Z</dcterms:created>
  <dcterms:modified xsi:type="dcterms:W3CDTF">2026-05-03T23:45:11Z</dcterms:modified>
</cp:coreProperties>
</file>