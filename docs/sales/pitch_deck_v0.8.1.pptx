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5120640"/>
            <a:ext cx="164592" cy="164592"/>
          </a:xfrm>
          <a:prstGeom prst="ellipse">
            <a:avLst/>
          </a:prstGeom>
          <a:solidFill>
            <a:srgbClr val="00B4D8">
              <a:alpha val="5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732520" y="5120640"/>
            <a:ext cx="164592" cy="164592"/>
          </a:xfrm>
          <a:prstGeom prst="ellipse">
            <a:avLst/>
          </a:prstGeom>
          <a:solidFill>
            <a:srgbClr val="90E0EF">
              <a:alpha val="5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235440" y="5120640"/>
            <a:ext cx="164592" cy="164592"/>
          </a:xfrm>
          <a:prstGeom prst="ellipse">
            <a:avLst/>
          </a:prstGeom>
          <a:solidFill>
            <a:srgbClr val="90E0EF">
              <a:alpha val="5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738360" y="5120640"/>
            <a:ext cx="164592" cy="164592"/>
          </a:xfrm>
          <a:prstGeom prst="ellipse">
            <a:avLst/>
          </a:prstGeom>
          <a:solidFill>
            <a:srgbClr val="00B4D8">
              <a:alpha val="5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241280" y="5120640"/>
            <a:ext cx="164592" cy="164592"/>
          </a:xfrm>
          <a:prstGeom prst="ellipse">
            <a:avLst/>
          </a:prstGeom>
          <a:solidFill>
            <a:srgbClr val="90E0EF">
              <a:alpha val="5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744200" y="5120640"/>
            <a:ext cx="164592" cy="164592"/>
          </a:xfrm>
          <a:prstGeom prst="ellipse">
            <a:avLst/>
          </a:prstGeom>
          <a:solidFill>
            <a:srgbClr val="90E0EF">
              <a:alpha val="5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247120" y="5120640"/>
            <a:ext cx="164592" cy="164592"/>
          </a:xfrm>
          <a:prstGeom prst="ellipse">
            <a:avLst/>
          </a:prstGeom>
          <a:solidFill>
            <a:srgbClr val="00B4D8">
              <a:alpha val="5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229600" y="5623560"/>
            <a:ext cx="164592" cy="164592"/>
          </a:xfrm>
          <a:prstGeom prst="ellipse">
            <a:avLst/>
          </a:prstGeom>
          <a:solidFill>
            <a:srgbClr val="90E0EF">
              <a:alpha val="5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732520" y="5623560"/>
            <a:ext cx="164592" cy="164592"/>
          </a:xfrm>
          <a:prstGeom prst="ellipse">
            <a:avLst/>
          </a:prstGeom>
          <a:solidFill>
            <a:srgbClr val="90E0EF">
              <a:alpha val="5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235440" y="5623560"/>
            <a:ext cx="164592" cy="164592"/>
          </a:xfrm>
          <a:prstGeom prst="ellipse">
            <a:avLst/>
          </a:prstGeom>
          <a:solidFill>
            <a:srgbClr val="00B4D8">
              <a:alpha val="5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738360" y="5623560"/>
            <a:ext cx="164592" cy="164592"/>
          </a:xfrm>
          <a:prstGeom prst="ellipse">
            <a:avLst/>
          </a:prstGeom>
          <a:solidFill>
            <a:srgbClr val="90E0EF">
              <a:alpha val="5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241280" y="5623560"/>
            <a:ext cx="164592" cy="164592"/>
          </a:xfrm>
          <a:prstGeom prst="ellipse">
            <a:avLst/>
          </a:prstGeom>
          <a:solidFill>
            <a:srgbClr val="90E0EF">
              <a:alpha val="5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0744200" y="5623560"/>
            <a:ext cx="164592" cy="164592"/>
          </a:xfrm>
          <a:prstGeom prst="ellipse">
            <a:avLst/>
          </a:prstGeom>
          <a:solidFill>
            <a:srgbClr val="00B4D8">
              <a:alpha val="5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247120" y="5623560"/>
            <a:ext cx="164592" cy="164592"/>
          </a:xfrm>
          <a:prstGeom prst="ellipse">
            <a:avLst/>
          </a:prstGeom>
          <a:solidFill>
            <a:srgbClr val="90E0EF">
              <a:alpha val="5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164592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windMindOM</a:t>
            </a:r>
            <a:endParaRPr lang="en-US" sz="8000" dirty="0"/>
          </a:p>
        </p:txBody>
      </p:sp>
      <p:sp>
        <p:nvSpPr>
          <p:cNvPr id="18" name="Text 16"/>
          <p:cNvSpPr/>
          <p:nvPr/>
        </p:nvSpPr>
        <p:spPr>
          <a:xfrm>
            <a:off x="731520" y="29260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90E0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離岸風場運維廠商工具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731520" y="36576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從監控到月報，5 個 module 撐起運維廠商的一整天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31520" y="4572000"/>
            <a:ext cx="3200400" cy="36576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475488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400" b="1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v0.8.1</a:t>
            </a:r>
            <a:pPr algn="l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90E0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·  2026-05-03</a:t>
            </a:r>
            <a:pPr algn="l" indent="0" marL="0">
              <a:spcBef>
                <a:spcPts val="400"/>
              </a:spcBef>
              <a:buNone/>
            </a:pPr>
            <a:endParaRPr lang="en-US" sz="1400" dirty="0"/>
          </a:p>
          <a:p>
            <a:pPr algn="l" indent="0" marL="0">
              <a:spcBef>
                <a:spcPts val="400"/>
              </a:spcBef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Dof / DOF Lab</a:t>
            </a:r>
            <a:endParaRPr lang="en-US" sz="1400" dirty="0"/>
          </a:p>
          <a:p>
            <a:pPr algn="l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90E0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·  國立勤益科技大學  智慧自動化工程系</a:t>
            </a:r>
            <a:pPr algn="l" indent="0" marL="0">
              <a:spcBef>
                <a:spcPts val="400"/>
              </a:spcBef>
              <a:buNone/>
            </a:pPr>
            <a:endParaRPr lang="en-US" sz="1400" dirty="0"/>
          </a:p>
          <a:p>
            <a:pPr algn="l" indent="0" marL="0">
              <a:spcBef>
                <a:spcPts val="400"/>
              </a:spcBef>
              <a:buNone/>
            </a:pPr>
            <a:r>
              <a:rPr lang="en-US" sz="1100" dirty="0">
                <a:solidFill>
                  <a:srgbClr val="90E0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副教授  劉瑞弘 (Juihung Liu)  ·  moredof@gmail.com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381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CONFIDENTIAL  ·  for friendly customer demo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lIns="0" tIns="6350" rIns="635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誰在用 windMindOM？</a:t>
            </a:r>
            <a:pPr algn="l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</a:t>
            </a:r>
            <a:pPr algn="l" indent="0" marL="0">
              <a:buNone/>
            </a:pPr>
            <a:r>
              <a:rPr lang="en-US" sz="1300" dirty="0">
                <a:solidFill>
                  <a:srgbClr val="90E0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離岸風場運維廠商，不是業主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Text 2"/>
          <p:cNvSpPr/>
          <p:nvPr/>
        </p:nvSpPr>
        <p:spPr>
          <a:xfrm>
            <a:off x="11091672" y="1371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0E0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/ 10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" cy="841248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71600" y="1188720"/>
            <a:ext cx="7772400" cy="37856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SCADA 看了沒人用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1567282"/>
            <a:ext cx="7772400" cy="46268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每天 200+ 條 alarm，沒有自動成本影響評估，工程師選擇性無視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822960" cy="841248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71600" y="2103120"/>
            <a:ext cx="7772400" cy="37856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警報靠 LINE 群組問師傅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71600" y="2481682"/>
            <a:ext cx="7772400" cy="46268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師傅請假就停擺，知識沒沉澱，新進工程師重複踩同一個坑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017520"/>
            <a:ext cx="822960" cy="841248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0" y="3017520"/>
            <a:ext cx="7772400" cy="37856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月報用 Excel 拼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71600" y="3396082"/>
            <a:ext cx="7772400" cy="46268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給業主前要熬夜整理 30+ 表，月底常通宵，錯一個數字要重做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3931920"/>
            <a:ext cx="822960" cy="841248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371600" y="3931920"/>
            <a:ext cx="7772400" cy="37856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 / 派工 / 簽核分散在 3 套系統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71600" y="4310482"/>
            <a:ext cx="7772400" cy="46268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跨系統對帳困難，紙本與系統雙軌，月底盤點對不上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4846320"/>
            <a:ext cx="822960" cy="841248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371600" y="4846320"/>
            <a:ext cx="7772400" cy="37856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成本沒回寫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371600" y="5224882"/>
            <a:ext cx="7772400" cy="46268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明年預算抓不準，跟業主談判沒底氣，被砍價只能照單全收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418320" y="11887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市場時機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418320" y="1554480"/>
            <a:ext cx="2468880" cy="4572000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lIns="177800" tIns="177800" rIns="177800" bIns="17780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Formosa 1 / 2 (2025–2027)
</a:t>
            </a:r>
            <a:pPr algn="l" indent="0" marL="0">
              <a:spcBef>
                <a:spcPts val="400"/>
              </a:spcBef>
              <a:buNone/>
            </a:pPr>
            <a:r>
              <a:rPr lang="en-US" sz="1100" dirty="0">
                <a:solidFill>
                  <a:srgbClr val="90E0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機組陸續出保 → 業主從 OEM 接受者轉為</a:t>
            </a:r>
            <a:pPr algn="l" indent="0" marL="0">
              <a:spcBef>
                <a:spcPts val="400"/>
              </a:spcBef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外包運維</a:t>
            </a:r>
            <a:pPr algn="l" indent="0" marL="0">
              <a:spcBef>
                <a:spcPts val="400"/>
              </a:spcBef>
              <a:buNone/>
            </a:pPr>
            <a:r>
              <a:rPr lang="en-US" sz="1100" dirty="0">
                <a:solidFill>
                  <a:srgbClr val="90E0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
</a:t>
            </a:r>
            <a:pPr algn="l" indent="0" marL="0">
              <a:spcBef>
                <a:spcPts val="400"/>
              </a:spcBef>
              <a:buNone/>
            </a:pPr>
            <a:r>
              <a:rPr lang="en-US" sz="1100" dirty="0">
                <a:solidFill>
                  <a:srgbClr val="90E0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運維廠商成為新 ICP，</a:t>
            </a:r>
            <a:pPr algn="l" indent="0" marL="0">
              <a:spcBef>
                <a:spcPts val="400"/>
              </a:spcBef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但市場上沒有為他們量身打造的工具。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0" y="6537960"/>
            <a:ext cx="8532266" cy="320040"/>
          </a:xfrm>
          <a:prstGeom prst="rect">
            <a:avLst/>
          </a:prstGeom>
          <a:noFill/>
          <a:ln/>
        </p:spPr>
        <p:txBody>
          <a:bodyPr wrap="square" lIns="0" tIns="635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Slide 2  ·  ICP &amp; Pain Points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32266" y="6537960"/>
            <a:ext cx="3199486" cy="320040"/>
          </a:xfrm>
          <a:prstGeom prst="rect">
            <a:avLst/>
          </a:prstGeom>
          <a:noFill/>
          <a:ln/>
        </p:spPr>
        <p:txBody>
          <a:bodyPr wrap="square" lIns="0" tIns="0" rIns="635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dofliu / moredof@gmail.com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lIns="0" tIns="6350" rIns="635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windMindOM = 一站式運維廠商工具</a:t>
            </a:r>
            <a:pPr algn="l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</a:t>
            </a:r>
            <a:pPr algn="l" indent="0" marL="0">
              <a:buNone/>
            </a:pPr>
            <a:r>
              <a:rPr lang="en-US" sz="1300" dirty="0">
                <a:solidFill>
                  <a:srgbClr val="90E0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個關鍵設計決策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Text 2"/>
          <p:cNvSpPr/>
          <p:nvPr/>
        </p:nvSpPr>
        <p:spPr>
          <a:xfrm>
            <a:off x="11091672" y="1371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0E0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/ 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3657600" cy="4114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80160"/>
            <a:ext cx="3657600" cy="868680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85800" y="224028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個 monolithic modules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27432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不是 plugin SDK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3200400"/>
            <a:ext cx="31089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2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monitoring / workflow / cost / reporting / knowledge 五件套</a:t>
            </a:r>
            <a:endParaRPr lang="en-US" sz="12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12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一個 dev 可維運的尺寸</a:t>
            </a:r>
            <a:endParaRPr lang="en-US" sz="12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12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不過度抽象、不造輪子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16552" y="1280160"/>
            <a:ext cx="3657600" cy="4114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16552" y="1280160"/>
            <a:ext cx="3657600" cy="868680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4599432" y="224028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Simulator-first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99432" y="27432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killer feature for sales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90872" y="3200400"/>
            <a:ext cx="31089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2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無實場可成立的 demo</a:t>
            </a:r>
            <a:endParaRPr lang="en-US" sz="12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12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客戶不用先簽合約 / 部署</a:t>
            </a:r>
            <a:endParaRPr lang="en-US" sz="12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12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14 台模擬風機 + 104 SCADA tags 隨時開跑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330184" y="1280160"/>
            <a:ext cx="3657600" cy="4114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30184" y="1280160"/>
            <a:ext cx="3657600" cy="868680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8513064" y="224028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Z72 機型 reference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513064" y="27432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first paying customer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604504" y="3200400"/>
            <a:ext cx="31089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2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digiWT 物理已驗證 18/21</a:t>
            </a:r>
            <a:endParaRPr lang="en-US" sz="12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12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Bachmann PLC 已通</a:t>
            </a:r>
            <a:endParaRPr lang="en-US" sz="12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12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3 個 sister repos 吃過 Z72 真實資料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58521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架構決策：DEC-20260502-06（v0.5 → v0.8.1 pivot — 廢除 plugin SDK / Workflow Hub / 4 類 Turbine Adapter）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0" y="6537960"/>
            <a:ext cx="8532266" cy="320040"/>
          </a:xfrm>
          <a:prstGeom prst="rect">
            <a:avLst/>
          </a:prstGeom>
          <a:noFill/>
          <a:ln/>
        </p:spPr>
        <p:txBody>
          <a:bodyPr wrap="square" lIns="0" tIns="635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Slide 3  ·  Solution Overview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32266" y="6537960"/>
            <a:ext cx="3199486" cy="320040"/>
          </a:xfrm>
          <a:prstGeom prst="rect">
            <a:avLst/>
          </a:prstGeom>
          <a:noFill/>
          <a:ln/>
        </p:spPr>
        <p:txBody>
          <a:bodyPr wrap="square" lIns="0" tIns="0" rIns="635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dofliu / moredof@gmail.com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lIns="0" tIns="6350" rIns="635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Modules — 運維廠商工作鏈閉環</a:t>
            </a:r>
            <a:pPr algn="l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</a:t>
            </a:r>
            <a:pPr algn="l" indent="0" marL="0">
              <a:buNone/>
            </a:pPr>
            <a:r>
              <a:rPr lang="en-US" sz="1300" dirty="0">
                <a:solidFill>
                  <a:srgbClr val="90E0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monitoring · workflow · cost · reporting · knowledge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Text 2"/>
          <p:cNvSpPr/>
          <p:nvPr/>
        </p:nvSpPr>
        <p:spPr>
          <a:xfrm>
            <a:off x="11091672" y="1371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0E0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/ 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33756" y="1234440"/>
            <a:ext cx="2194560" cy="4023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33756" y="1234440"/>
            <a:ext cx="2194560" cy="1188720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425196" y="25146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monitoring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25196" y="30175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SCADA + 物理模擬器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8076" y="3520440"/>
            <a:ext cx="1645920" cy="347472"/>
          </a:xfrm>
          <a:prstGeom prst="rect">
            <a:avLst/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M1 ready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6636" y="3977640"/>
            <a:ext cx="18288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104 SCADA tags</a:t>
            </a:r>
            <a:endParaRPr lang="en-US" sz="1000" dirty="0"/>
          </a:p>
          <a:p>
            <a:pPr algn="ctr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台模擬風機</a:t>
            </a:r>
            <a:endParaRPr lang="en-US" sz="1000" dirty="0"/>
          </a:p>
          <a:p>
            <a:pPr algn="ctr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Bachmann Z72 OPC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665476" y="1234440"/>
            <a:ext cx="2194560" cy="4023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65476" y="1234440"/>
            <a:ext cx="2194560" cy="1188720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$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2756916" y="25146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cost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756916" y="30175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成本計算 + LCOE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939796" y="3520440"/>
            <a:ext cx="1645920" cy="347472"/>
          </a:xfrm>
          <a:prstGeom prst="rect">
            <a:avLst/>
          </a:prstGeom>
          <a:solidFill>
            <a:srgbClr val="00B4D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M2 (2026-06)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848356" y="3977640"/>
            <a:ext cx="18288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ECN 移植</a:t>
            </a:r>
            <a:endParaRPr lang="en-US" sz="1000" dirty="0"/>
          </a:p>
          <a:p>
            <a:pPr algn="ctr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forecast ⇄ actual</a:t>
            </a:r>
            <a:endParaRPr lang="en-US" sz="1000" dirty="0"/>
          </a:p>
          <a:p>
            <a:pPr algn="ctr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Monte Carlo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997196" y="1234440"/>
            <a:ext cx="2194560" cy="4023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97196" y="1234440"/>
            <a:ext cx="2194560" cy="1188720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5088636" y="25146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workflow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088636" y="30175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 + 派工 + 簽核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271516" y="3520440"/>
            <a:ext cx="1645920" cy="347472"/>
          </a:xfrm>
          <a:prstGeom prst="rect">
            <a:avLst/>
          </a:prstGeom>
          <a:solidFill>
            <a:srgbClr val="00B4D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M3-M4 (07-08)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180076" y="3977640"/>
            <a:ext cx="18288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Work order CRUD</a:t>
            </a:r>
            <a:endParaRPr lang="en-US" sz="1000" dirty="0"/>
          </a:p>
          <a:p>
            <a:pPr algn="ctr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多階簽核</a:t>
            </a:r>
            <a:endParaRPr lang="en-US" sz="1000" dirty="0"/>
          </a:p>
          <a:p>
            <a:pPr algn="ctr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Inventory 雙寫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28916" y="1234440"/>
            <a:ext cx="2194560" cy="4023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28916" y="1234440"/>
            <a:ext cx="2194560" cy="1188720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4800" dirty="0"/>
          </a:p>
        </p:txBody>
      </p:sp>
      <p:sp>
        <p:nvSpPr>
          <p:cNvPr id="25" name="Text 23"/>
          <p:cNvSpPr/>
          <p:nvPr/>
        </p:nvSpPr>
        <p:spPr>
          <a:xfrm>
            <a:off x="7420356" y="25146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reporting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420356" y="30175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月報 PDF + 預算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603236" y="3520440"/>
            <a:ext cx="1645920" cy="347472"/>
          </a:xfrm>
          <a:prstGeom prst="rect">
            <a:avLst/>
          </a:prstGeom>
          <a:solidFill>
            <a:srgbClr val="00B4D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M4 (2026-08)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511796" y="3977640"/>
            <a:ext cx="18288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Monthly PDF</a:t>
            </a:r>
            <a:endParaRPr lang="en-US" sz="1000" dirty="0"/>
          </a:p>
          <a:p>
            <a:pPr algn="ctr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年度預算</a:t>
            </a:r>
            <a:endParaRPr lang="en-US" sz="1000" dirty="0"/>
          </a:p>
          <a:p>
            <a:pPr algn="ctr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業主交付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9660636" y="1234440"/>
            <a:ext cx="2194560" cy="4023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660636" y="1234440"/>
            <a:ext cx="2194560" cy="1188720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</a:t>
            </a:r>
            <a:endParaRPr lang="en-US" sz="4800" dirty="0"/>
          </a:p>
        </p:txBody>
      </p:sp>
      <p:sp>
        <p:nvSpPr>
          <p:cNvPr id="31" name="Text 29"/>
          <p:cNvSpPr/>
          <p:nvPr/>
        </p:nvSpPr>
        <p:spPr>
          <a:xfrm>
            <a:off x="9752076" y="25146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knowledge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752076" y="30175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警報手冊 RAG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934956" y="3520440"/>
            <a:ext cx="1645920" cy="347472"/>
          </a:xfrm>
          <a:prstGeom prst="rect">
            <a:avLst/>
          </a:prstGeom>
          <a:solidFill>
            <a:srgbClr val="00B4D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M5 (2026-09)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9843516" y="3977640"/>
            <a:ext cx="18288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ChromaDB</a:t>
            </a:r>
            <a:endParaRPr lang="en-US" sz="1000" dirty="0"/>
          </a:p>
          <a:p>
            <a:pPr algn="ctr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手冊檢索</a:t>
            </a:r>
            <a:endParaRPr lang="en-US" sz="1000" dirty="0"/>
          </a:p>
          <a:p>
            <a:pPr algn="ctr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Mobile-first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5669280"/>
            <a:ext cx="11274552" cy="548640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0E0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閉環流程：告警 → 工單 → 簽核 → 派工 → 完工 → 庫存扣帳 → cost actual → 月報自動產出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0" y="6537960"/>
            <a:ext cx="8532266" cy="320040"/>
          </a:xfrm>
          <a:prstGeom prst="rect">
            <a:avLst/>
          </a:prstGeom>
          <a:noFill/>
          <a:ln/>
        </p:spPr>
        <p:txBody>
          <a:bodyPr wrap="square" lIns="0" tIns="635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Slide 4  ·  5 Modules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532266" y="6537960"/>
            <a:ext cx="3199486" cy="320040"/>
          </a:xfrm>
          <a:prstGeom prst="rect">
            <a:avLst/>
          </a:prstGeom>
          <a:noFill/>
          <a:ln/>
        </p:spPr>
        <p:txBody>
          <a:bodyPr wrap="square" lIns="0" tIns="0" rIns="635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dofliu / moredof@gmail.com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lIns="0" tIns="6350" rIns="635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Killer Feature — 無實場可成立的 Demo</a:t>
            </a:r>
            <a:pPr algn="l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</a:t>
            </a:r>
            <a:pPr algn="l" indent="0" marL="0">
              <a:buNone/>
            </a:pPr>
            <a:r>
              <a:rPr lang="en-US" sz="1300" dirty="0">
                <a:solidFill>
                  <a:srgbClr val="90E0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Sales 殺手特性（競品做不到）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Text 2"/>
          <p:cNvSpPr/>
          <p:nvPr/>
        </p:nvSpPr>
        <p:spPr>
          <a:xfrm>
            <a:off x="11091672" y="1371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0E0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/ 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3657600" cy="1554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80160"/>
            <a:ext cx="1371600" cy="1554480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104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1965960" y="14173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SCADA tags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965960" y="187452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 Bachmann Z72 真實 PLC 一致</a:t>
            </a:r>
            <a:endParaRPr lang="en-US" sz="110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IEC 61400-12-1/2 nacelle 校正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999232"/>
            <a:ext cx="3657600" cy="1554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999232"/>
            <a:ext cx="1371600" cy="1554480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1965960" y="3136392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台模擬風機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965960" y="3593592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完整物理：wake、fatigue、DEL、</a:t>
            </a:r>
            <a:endParaRPr lang="en-US" sz="110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spectral vibration、yaw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4718304"/>
            <a:ext cx="3657600" cy="1554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4718304"/>
            <a:ext cx="1371600" cy="1554480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5600" dirty="0"/>
          </a:p>
        </p:txBody>
      </p:sp>
      <p:sp>
        <p:nvSpPr>
          <p:cNvPr id="15" name="Text 13"/>
          <p:cNvSpPr/>
          <p:nvPr/>
        </p:nvSpPr>
        <p:spPr>
          <a:xfrm>
            <a:off x="1965960" y="4855464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分鐘 demo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965960" y="5312664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不需先簽合約 / 部署 / 等實機資料</a:t>
            </a:r>
            <a:endParaRPr lang="en-US" sz="110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 browser 就能 run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754880" y="1280160"/>
            <a:ext cx="69768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為什麼這是 sales killer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754880" y="1783080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212080" y="1783080"/>
            <a:ext cx="6519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客戶第一次見面 → 直接 demo，不用「等我們安裝」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754880" y="2286000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212080" y="2286000"/>
            <a:ext cx="6519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客戶內部評選 → 我們可以複製到他們會議室再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754880" y="2788920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212080" y="2788920"/>
            <a:ext cx="6519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 PoC 階段 → simulator 補實場資料缺口（前 6 個月）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754880" y="4937760"/>
            <a:ext cx="6976872" cy="1188720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lIns="177800" tIns="177800" rIns="177800" bIns="17780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競品對比：</a:t>
            </a:r>
            <a:pPr algn="l" indent="0" marL="0">
              <a:buNone/>
            </a:pPr>
            <a:r>
              <a:rPr lang="en-US" sz="1100" dirty="0">
                <a:solidFill>
                  <a:srgbClr val="90E0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Bazefield / SkySpecs / ONYX InSight </a:t>
            </a:r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全部需要實場 SCADA 才能 demo</a:t>
            </a:r>
            <a:pPr algn="l" indent="0" marL="0">
              <a:buNone/>
            </a:pPr>
            <a:r>
              <a:rPr lang="en-US" sz="1100" dirty="0">
                <a:solidFill>
                  <a:srgbClr val="90E0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。客戶評選週期內，他們連「給看」都做不到。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0" y="6537960"/>
            <a:ext cx="8532266" cy="320040"/>
          </a:xfrm>
          <a:prstGeom prst="rect">
            <a:avLst/>
          </a:prstGeom>
          <a:noFill/>
          <a:ln/>
        </p:spPr>
        <p:txBody>
          <a:bodyPr wrap="square" lIns="0" tIns="635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Slide 5  ·  Killer Feature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32266" y="6537960"/>
            <a:ext cx="3199486" cy="320040"/>
          </a:xfrm>
          <a:prstGeom prst="rect">
            <a:avLst/>
          </a:prstGeom>
          <a:noFill/>
          <a:ln/>
        </p:spPr>
        <p:txBody>
          <a:bodyPr wrap="square" lIns="0" tIns="0" rIns="635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dofliu / moredof@gmail.com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lIns="0" tIns="6350" rIns="635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商業模式 — Operator 三層套餐</a:t>
            </a:r>
            <a:pPr algn="l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</a:t>
            </a:r>
            <a:pPr algn="l" indent="0" marL="0">
              <a:buNone/>
            </a:pPr>
            <a:r>
              <a:rPr lang="en-US" sz="1300" dirty="0">
                <a:solidFill>
                  <a:srgbClr val="90E0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依運維廠商規模分層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Text 2"/>
          <p:cNvSpPr/>
          <p:nvPr/>
        </p:nvSpPr>
        <p:spPr>
          <a:xfrm>
            <a:off x="11091672" y="1371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0E0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/ 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52044" y="1280160"/>
            <a:ext cx="3657600" cy="4206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4924" y="155448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Operator Basic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34924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小型運維廠商</a:t>
            </a:r>
            <a:endParaRPr lang="en-US" sz="1200" dirty="0"/>
          </a:p>
          <a:p>
            <a:pPr algn="ctr" indent="0" marL="0">
              <a:spcBef>
                <a:spcPts val="200"/>
              </a:spcBef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單一風場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266444" y="2834640"/>
            <a:ext cx="182880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" name="Text 7"/>
          <p:cNvSpPr/>
          <p:nvPr/>
        </p:nvSpPr>
        <p:spPr>
          <a:xfrm>
            <a:off x="717804" y="2971800"/>
            <a:ext cx="29260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monitoring</a:t>
            </a:r>
            <a:endParaRPr lang="en-US" sz="1200" dirty="0"/>
          </a:p>
          <a:p>
            <a:pPr algn="l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reporting</a:t>
            </a:r>
            <a:endParaRPr lang="en-US" sz="1200" dirty="0"/>
          </a:p>
          <a:p>
            <a:pPr algn="l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knowledge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34924" y="452628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NT$30–60k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34924" y="5074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/turbine/年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65676" y="1280160"/>
            <a:ext cx="3657600" cy="4206240"/>
          </a:xfrm>
          <a:prstGeom prst="rect">
            <a:avLst/>
          </a:prstGeom>
          <a:solidFill>
            <a:srgbClr val="0B2545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65676" y="1280160"/>
            <a:ext cx="3657600" cy="320040"/>
          </a:xfrm>
          <a:prstGeom prst="rect">
            <a:avLst/>
          </a:prstGeom>
          <a:solidFill>
            <a:srgbClr val="00B4D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RECOMMENDED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48556" y="173736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Operator Pro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448556" y="228600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1200" dirty="0">
                <a:solidFill>
                  <a:srgbClr val="90E0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中型運維廠商</a:t>
            </a:r>
            <a:endParaRPr lang="en-US" sz="1200" dirty="0"/>
          </a:p>
          <a:p>
            <a:pPr algn="ctr" indent="0" marL="0">
              <a:spcBef>
                <a:spcPts val="200"/>
              </a:spcBef>
              <a:buNone/>
            </a:pPr>
            <a:r>
              <a:rPr lang="en-US" sz="1200" dirty="0">
                <a:solidFill>
                  <a:srgbClr val="90E0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多風場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180076" y="3017520"/>
            <a:ext cx="1828800" cy="1828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7" name="Text 15"/>
          <p:cNvSpPr/>
          <p:nvPr/>
        </p:nvSpPr>
        <p:spPr>
          <a:xfrm>
            <a:off x="4631436" y="3154680"/>
            <a:ext cx="29260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+ workflow</a:t>
            </a:r>
            <a:endParaRPr lang="en-US" sz="1200" dirty="0"/>
          </a:p>
          <a:p>
            <a:pPr algn="l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+ cost</a:t>
            </a:r>
            <a:endParaRPr lang="en-US" sz="1200" dirty="0"/>
          </a:p>
          <a:p>
            <a:pPr algn="l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(含 Basic)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448556" y="452628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NT$60–100k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4448556" y="5074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0E0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/turbine/年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179308" y="1280160"/>
            <a:ext cx="3657600" cy="4206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62188" y="155448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Operator Enterprise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362188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大型運維廠商</a:t>
            </a:r>
            <a:endParaRPr lang="en-US" sz="1200" dirty="0"/>
          </a:p>
          <a:p>
            <a:pPr algn="ctr" indent="0" marL="0">
              <a:spcBef>
                <a:spcPts val="200"/>
              </a:spcBef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 OEM 機型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93708" y="2834640"/>
            <a:ext cx="182880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2"/>
          <p:cNvSpPr/>
          <p:nvPr/>
        </p:nvSpPr>
        <p:spPr>
          <a:xfrm>
            <a:off x="8545068" y="2971800"/>
            <a:ext cx="29260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+ AI 介接 (windAILab)</a:t>
            </a:r>
            <a:endParaRPr lang="en-US" sz="1200" dirty="0"/>
          </a:p>
          <a:p>
            <a:pPr algn="l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+ InduSpect 視覺定檢</a:t>
            </a:r>
            <a:endParaRPr lang="en-US" sz="1200" dirty="0"/>
          </a:p>
          <a:p>
            <a:pPr algn="l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(含 Pro)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362188" y="452628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NT$100–180k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8362188" y="5074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/turbine/年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02920" y="58521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第一筆合約目標：NT$ 2–4M（Basic 或 Pro 等級，14 台風機 × 1 年）  ·  目標時間：2026 Q4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0" y="6537960"/>
            <a:ext cx="8532266" cy="320040"/>
          </a:xfrm>
          <a:prstGeom prst="rect">
            <a:avLst/>
          </a:prstGeom>
          <a:noFill/>
          <a:ln/>
        </p:spPr>
        <p:txBody>
          <a:bodyPr wrap="square" lIns="0" tIns="635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Slide 6  ·  Pricing Tiers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532266" y="6537960"/>
            <a:ext cx="3199486" cy="320040"/>
          </a:xfrm>
          <a:prstGeom prst="rect">
            <a:avLst/>
          </a:prstGeom>
          <a:noFill/>
          <a:ln/>
        </p:spPr>
        <p:txBody>
          <a:bodyPr wrap="square" lIns="0" tIns="0" rIns="635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dofliu / moredof@gmail.com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lIns="0" tIns="6350" rIns="635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沒有競品同時涵蓋這 8 列</a:t>
            </a:r>
            <a:pPr algn="l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</a:t>
            </a:r>
            <a:pPr algn="l" indent="0" marL="0">
              <a:buNone/>
            </a:pPr>
            <a:r>
              <a:rPr lang="en-US" sz="1300" dirty="0">
                <a:solidFill>
                  <a:srgbClr val="90E0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市場上沒有 windMindOM-equivalent 工具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Text 2"/>
          <p:cNvSpPr/>
          <p:nvPr/>
        </p:nvSpPr>
        <p:spPr>
          <a:xfrm>
            <a:off x="11091672" y="1371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0E0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 / 10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7455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508760"/>
                <a:gridCol w="1508760"/>
                <a:gridCol w="1673352"/>
                <a:gridCol w="1417320"/>
                <a:gridCol w="24231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能力 \ 競品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SkySpecs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(US)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Bazefield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(NO)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ONYX InSight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(UK)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SAP PM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B25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windMindOM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25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SCADA 監控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部分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✓✓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部分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B25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✓✓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0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25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故障診斷 + RAG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 葉片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 gearbox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B25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 Z72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0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25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派工 / 工單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✓✓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B25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 M3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0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25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庫存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✓✓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B25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 M4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0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25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多階簽核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B25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 M3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0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25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成本回寫 LCOE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部分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B25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 M2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0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25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Simulator demo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B25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✓✓ killer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25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月報自動化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B25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 M4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0E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5852160"/>
            <a:ext cx="11274552" cy="502920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條 USP：</a:t>
            </a:r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完整工作鏈閉環  ·  Simulator-first demo  ·  在地化派工簽核  ·  ECN 成本雙向回寫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0" y="6537960"/>
            <a:ext cx="8532266" cy="320040"/>
          </a:xfrm>
          <a:prstGeom prst="rect">
            <a:avLst/>
          </a:prstGeom>
          <a:noFill/>
          <a:ln/>
        </p:spPr>
        <p:txBody>
          <a:bodyPr wrap="square" lIns="0" tIns="635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Slide 7  ·  Competitive Matrix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532266" y="6537960"/>
            <a:ext cx="3199486" cy="320040"/>
          </a:xfrm>
          <a:prstGeom prst="rect">
            <a:avLst/>
          </a:prstGeom>
          <a:noFill/>
          <a:ln/>
        </p:spPr>
        <p:txBody>
          <a:bodyPr wrap="square" lIns="0" tIns="0" rIns="635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dofliu / moredof@gmail.com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lIns="0" tIns="6350" rIns="635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第一個客戶：Z72 機型運維廠商</a:t>
            </a:r>
            <a:pPr algn="l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</a:t>
            </a:r>
            <a:pPr algn="l" indent="0" marL="0">
              <a:buNone/>
            </a:pPr>
            <a:r>
              <a:rPr lang="en-US" sz="1300" dirty="0">
                <a:solidFill>
                  <a:srgbClr val="90E0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為什麼選 Z72 為首發？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Text 2"/>
          <p:cNvSpPr/>
          <p:nvPr/>
        </p:nvSpPr>
        <p:spPr>
          <a:xfrm>
            <a:off x="11091672" y="1371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0E0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/ 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70916" y="1234440"/>
            <a:ext cx="5486400" cy="18745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0916" y="1234440"/>
            <a:ext cx="868680" cy="1874520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476756" y="13716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digiWT 物理已驗證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76756" y="1874520"/>
            <a:ext cx="4389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 / 21 quality check 通過</a:t>
            </a:r>
            <a:endParaRPr lang="en-US" sz="110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104 SCADA tags 對齊真實 Bachmann Z72 PLC</a:t>
            </a:r>
            <a:endParaRPr lang="en-US" sz="110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IEC 61400-12-1/2 nacelle anemometer / vane 校正完整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31636" y="1234440"/>
            <a:ext cx="5486400" cy="18745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31636" y="1234440"/>
            <a:ext cx="868680" cy="1874520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7237476" y="13716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 OEM 阻擋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237476" y="1874520"/>
            <a:ext cx="4389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Harakosan / Zephyros 已退出市場</a:t>
            </a:r>
            <a:endParaRPr lang="en-US" sz="110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沒有原廠擋客戶</a:t>
            </a:r>
            <a:endParaRPr lang="en-US" sz="110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bundle 銷售壓力 = 0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0916" y="3291840"/>
            <a:ext cx="5486400" cy="18745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916" y="3291840"/>
            <a:ext cx="868680" cy="1874520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476756" y="34290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Bachmann PLC 連線已通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476756" y="3931920"/>
            <a:ext cx="4389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z72hmiNew 實機運轉中</a:t>
            </a:r>
            <a:endParaRPr lang="en-US" sz="110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opc_bachmann 模組可直接用</a:t>
            </a:r>
            <a:endParaRPr lang="en-US" sz="110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simulator → 實場切換最快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31636" y="3291840"/>
            <a:ext cx="5486400" cy="18745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31636" y="3291840"/>
            <a:ext cx="868680" cy="1874520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7237476" y="34290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個 sister repos 吃過真實資料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237476" y="3931920"/>
            <a:ext cx="4389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z72_etech (派工設計參考)</a:t>
            </a:r>
            <a:endParaRPr lang="en-US" sz="110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z72hmiNew (HMI / 真實 PLC)</a:t>
            </a:r>
            <a:endParaRPr lang="en-US" sz="110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digiWindTurbine (物理 baseline)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5760720"/>
            <a:ext cx="11183112" cy="502920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時間軸：</a:t>
            </a:r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 Q3 friendly pilot 上線</a:t>
            </a:r>
            <a:pPr algn="ctr"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→  </a:t>
            </a:r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 Q4 第一筆合約 NT$ 2–4M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0" y="6537960"/>
            <a:ext cx="8532266" cy="320040"/>
          </a:xfrm>
          <a:prstGeom prst="rect">
            <a:avLst/>
          </a:prstGeom>
          <a:noFill/>
          <a:ln/>
        </p:spPr>
        <p:txBody>
          <a:bodyPr wrap="square" lIns="0" tIns="635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Slide 8  ·  First Customer (Z72)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32266" y="6537960"/>
            <a:ext cx="3199486" cy="320040"/>
          </a:xfrm>
          <a:prstGeom prst="rect">
            <a:avLst/>
          </a:prstGeom>
          <a:noFill/>
          <a:ln/>
        </p:spPr>
        <p:txBody>
          <a:bodyPr wrap="square" lIns="0" tIns="0" rIns="635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dofliu / moredof@gmail.com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lIns="0" tIns="6350" rIns="635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個月 Roadmap</a:t>
            </a:r>
            <a:pPr algn="l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</a:t>
            </a:r>
            <a:pPr algn="l" indent="0" marL="0">
              <a:buNone/>
            </a:pPr>
            <a:r>
              <a:rPr lang="en-US" sz="1300" dirty="0">
                <a:solidFill>
                  <a:srgbClr val="90E0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M1 → M6 / 2026-05 → 2026-10  ·  一日一項重要工作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Text 2"/>
          <p:cNvSpPr/>
          <p:nvPr/>
        </p:nvSpPr>
        <p:spPr>
          <a:xfrm>
            <a:off x="11091672" y="1371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0E0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 / 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56616" y="1737360"/>
            <a:ext cx="11475720" cy="36576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6" name="Shape 4"/>
          <p:cNvSpPr/>
          <p:nvPr/>
        </p:nvSpPr>
        <p:spPr>
          <a:xfrm>
            <a:off x="1202436" y="1645920"/>
            <a:ext cx="274320" cy="2743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8056" y="20574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48056" y="2514600"/>
            <a:ext cx="1783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8056" y="2880360"/>
            <a:ext cx="1783080" cy="2514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" y="2880360"/>
            <a:ext cx="1783080" cy="457200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Setup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39496" y="3383280"/>
            <a:ext cx="16002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95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repo baseline</a:t>
            </a:r>
            <a:endParaRPr lang="en-US" sz="95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95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規劃文件就位</a:t>
            </a:r>
            <a:endParaRPr lang="en-US" sz="95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95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friendly 客戶接觸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39496" y="489204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進行中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04388" y="1645920"/>
            <a:ext cx="274320" cy="2743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350008" y="20574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350008" y="2514600"/>
            <a:ext cx="1783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2026-06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350008" y="2880360"/>
            <a:ext cx="1783080" cy="2514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350008" y="2880360"/>
            <a:ext cx="1783080" cy="457200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Cost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441448" y="3383280"/>
            <a:ext cx="16002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95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K13 demo 跑通</a:t>
            </a:r>
            <a:endParaRPr lang="en-US" sz="95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95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LCOE dashboard</a:t>
            </a:r>
            <a:endParaRPr lang="en-US" sz="95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95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ECN 移植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441448" y="489204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⏳ 排程中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006340" y="1645920"/>
            <a:ext cx="274320" cy="2743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51960" y="20574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251960" y="2514600"/>
            <a:ext cx="1783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251960" y="2880360"/>
            <a:ext cx="1783080" cy="2514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51960" y="2880360"/>
            <a:ext cx="1783080" cy="457200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Workflow Pt1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343400" y="3383280"/>
            <a:ext cx="16002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95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Work Order CRUD</a:t>
            </a:r>
            <a:endParaRPr lang="en-US" sz="95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95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多階簽核</a:t>
            </a:r>
            <a:endParaRPr lang="en-US" sz="95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95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z72_etech 取設計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343400" y="489204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⏳ 排程中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908292" y="1645920"/>
            <a:ext cx="274320" cy="2743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53912" y="20574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M4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153912" y="2514600"/>
            <a:ext cx="1783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2026-08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53912" y="2880360"/>
            <a:ext cx="1783080" cy="2514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53912" y="2880360"/>
            <a:ext cx="1783080" cy="457200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Workflow Pt2 + Reporting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245352" y="3383280"/>
            <a:ext cx="16002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95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Inventory 雙寫</a:t>
            </a:r>
            <a:endParaRPr lang="en-US" sz="95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95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月報 PDF 自動化</a:t>
            </a:r>
            <a:endParaRPr lang="en-US" sz="95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95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Cost ↔ Workflow 雙向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245352" y="489204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⏳ 排程中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810244" y="1645920"/>
            <a:ext cx="274320" cy="2743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055864" y="20574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M5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055864" y="2514600"/>
            <a:ext cx="1783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055864" y="2880360"/>
            <a:ext cx="1783080" cy="2514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55864" y="2880360"/>
            <a:ext cx="1783080" cy="457200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Knowledge / RAG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147304" y="3383280"/>
            <a:ext cx="16002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95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警報 → 30 秒查手冊</a:t>
            </a:r>
            <a:endParaRPr lang="en-US" sz="95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95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Mobile-first UI</a:t>
            </a:r>
            <a:endParaRPr lang="en-US" sz="95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95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ChromaDB 整合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8147304" y="489204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⏳ 排程中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10712196" y="1645920"/>
            <a:ext cx="274320" cy="2743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957816" y="20574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M6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9957816" y="2514600"/>
            <a:ext cx="1783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2026-10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9957816" y="2880360"/>
            <a:ext cx="1783080" cy="2514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957816" y="2880360"/>
            <a:ext cx="1783080" cy="457200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PoC + 第一筆合約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10049256" y="3383280"/>
            <a:ext cx="16002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95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Z72 運維廠商部署</a:t>
            </a:r>
            <a:endParaRPr lang="en-US" sz="95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95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第一份月報送業主</a:t>
            </a:r>
            <a:endParaRPr lang="en-US" sz="95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95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LOI / 簽合約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10049256" y="489204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🎯 KPI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02920" y="58521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每月一個 demo-able deliverable — 避免到 Month 6 才發現方向錯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0" y="6537960"/>
            <a:ext cx="8532266" cy="320040"/>
          </a:xfrm>
          <a:prstGeom prst="rect">
            <a:avLst/>
          </a:prstGeom>
          <a:noFill/>
          <a:ln/>
        </p:spPr>
        <p:txBody>
          <a:bodyPr wrap="square" lIns="0" tIns="635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Slide 9  ·  Roadmap M1-M6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532266" y="6537960"/>
            <a:ext cx="3199486" cy="320040"/>
          </a:xfrm>
          <a:prstGeom prst="rect">
            <a:avLst/>
          </a:prstGeom>
          <a:noFill/>
          <a:ln/>
        </p:spPr>
        <p:txBody>
          <a:bodyPr wrap="square" lIns="0" tIns="0" rIns="635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dofliu / moredof@gmail.com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lIns="0" tIns="6350" rIns="635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我們需要什麼</a:t>
            </a:r>
            <a:pPr algn="l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</a:t>
            </a:r>
            <a:pPr algn="l" indent="0" marL="0">
              <a:buNone/>
            </a:pPr>
            <a:r>
              <a:rPr lang="en-US" sz="1300" dirty="0">
                <a:solidFill>
                  <a:srgbClr val="90E0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大 ask  ·  讓 windMindOM 走出實驗室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Text 2"/>
          <p:cNvSpPr/>
          <p:nvPr/>
        </p:nvSpPr>
        <p:spPr>
          <a:xfrm>
            <a:off x="11091672" y="1371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0E0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52044" y="1234440"/>
            <a:ext cx="3657600" cy="4114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2044" y="1234440"/>
            <a:ext cx="822960" cy="868680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266444" y="13258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Friendly Pilot 客戶  1–2 家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66444" y="17373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Z72 機型運維廠商優先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4924" y="2286000"/>
            <a:ext cx="3291840" cy="320040"/>
          </a:xfrm>
          <a:prstGeom prst="rect">
            <a:avLst/>
          </a:prstGeom>
          <a:solidFill>
            <a:srgbClr val="00B4D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我們提供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80644" y="2651760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05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simulator demo</a:t>
            </a:r>
            <a:endParaRPr lang="en-US" sz="105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105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9 個月免費 PoC</a:t>
            </a:r>
            <a:endParaRPr lang="en-US" sz="105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105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第一份月報協助製作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34924" y="3886200"/>
            <a:ext cx="3291840" cy="320040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您協助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80644" y="4251960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05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實場 SCADA 連線</a:t>
            </a:r>
            <a:endParaRPr lang="en-US" sz="105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105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1 位現場工程師參與測試</a:t>
            </a:r>
            <a:endParaRPr lang="en-US" sz="105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105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真實警報資料用作 RAG 訓練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65676" y="1234440"/>
            <a:ext cx="3657600" cy="4114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65676" y="1234440"/>
            <a:ext cx="822960" cy="868680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5180076" y="13258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業主介紹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180076" y="17373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建立運維廠商信任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448556" y="2286000"/>
            <a:ext cx="3291840" cy="320040"/>
          </a:xfrm>
          <a:prstGeom prst="rect">
            <a:avLst/>
          </a:prstGeom>
          <a:solidFill>
            <a:srgbClr val="00B4D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我們提供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494276" y="2651760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05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介紹費 / 共同 marketing</a:t>
            </a:r>
            <a:endParaRPr lang="en-US" sz="105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105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業主端報表客製</a:t>
            </a:r>
            <a:endParaRPr lang="en-US" sz="105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105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學界品牌背書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448556" y="3886200"/>
            <a:ext cx="3291840" cy="320040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您協助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494276" y="4251960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05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介紹給已外包維運的業主</a:t>
            </a:r>
            <a:endParaRPr lang="en-US" sz="105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105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引介到風電產業協會</a:t>
            </a:r>
            <a:endParaRPr lang="en-US" sz="105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105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競爭對手分析資料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179308" y="1234440"/>
            <a:ext cx="3657600" cy="4114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79308" y="1234440"/>
            <a:ext cx="822960" cy="868680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9093708" y="13258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計畫資源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093708" y="17373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國科會整合型計畫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362188" y="2286000"/>
            <a:ext cx="3291840" cy="320040"/>
          </a:xfrm>
          <a:prstGeom prst="rect">
            <a:avLst/>
          </a:prstGeom>
          <a:solidFill>
            <a:srgbClr val="00B4D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我們提供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07908" y="2651760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05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共同申請 PI / co-PI</a:t>
            </a:r>
            <a:endParaRPr lang="en-US" sz="105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105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學術發表（Q1 期刊）</a:t>
            </a:r>
            <a:endParaRPr lang="en-US" sz="105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105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學生人力支援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362188" y="3886200"/>
            <a:ext cx="3291840" cy="320040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您協助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407908" y="4251960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05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共同申請 2026 下半年計畫</a:t>
            </a:r>
            <a:endParaRPr lang="en-US" sz="105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105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加速 M5 RAG / M6 部署</a:t>
            </a:r>
            <a:endParaRPr lang="en-US" sz="105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105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跨領域團隊資源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74320" y="5760720"/>
            <a:ext cx="11640312" cy="502920"/>
          </a:xfrm>
          <a:prstGeom prst="rect">
            <a:avLst/>
          </a:prstGeom>
          <a:solidFill>
            <a:srgbClr val="0B254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0E0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Dof  ·  DOF Lab  ·  </a:t>
            </a:r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國立勤益科技大學  智慧自動化工程系</a:t>
            </a:r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 |    </a:t>
            </a:r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副教授  劉瑞弘 (Juihung Liu)</a:t>
            </a:r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 |    </a:t>
            </a:r>
            <a:pPr algn="ctr" indent="0" marL="0">
              <a:buNone/>
            </a:pPr>
            <a:r>
              <a:rPr lang="en-US" sz="1200" dirty="0">
                <a:solidFill>
                  <a:srgbClr val="00B4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moredof@gmail.com</a:t>
            </a:r>
            <a:pPr algn="ctr" indent="0" marL="0">
              <a:buNone/>
            </a:pPr>
            <a:r>
              <a:rPr lang="en-US" sz="1200" dirty="0">
                <a:solidFill>
                  <a:srgbClr val="90E0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·  github.com/dofliu  ·  doflab.cc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0" y="6537960"/>
            <a:ext cx="8532266" cy="320040"/>
          </a:xfrm>
          <a:prstGeom prst="rect">
            <a:avLst/>
          </a:prstGeom>
          <a:noFill/>
          <a:ln/>
        </p:spPr>
        <p:txBody>
          <a:bodyPr wrap="square" lIns="0" tIns="635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Slide 10  ·  Ask &amp; Contact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532266" y="6537960"/>
            <a:ext cx="3199486" cy="320040"/>
          </a:xfrm>
          <a:prstGeom prst="rect">
            <a:avLst/>
          </a:prstGeom>
          <a:noFill/>
          <a:ln/>
        </p:spPr>
        <p:txBody>
          <a:bodyPr wrap="square" lIns="0" tIns="0" rIns="635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dofliu / moredof@gmail.com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DOF Lab · 國立勤益科技大學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windMindOM v0.8.1 Pitch Deck</dc:title>
  <dc:subject>離岸風場運維廠商工具 — sales pitch deck</dc:subject>
  <dc:creator>Dof / DOF Lab · 劉瑞弘</dc:creator>
  <cp:lastModifiedBy>Dof / DOF Lab · 劉瑞弘</cp:lastModifiedBy>
  <cp:revision>1</cp:revision>
  <dcterms:created xsi:type="dcterms:W3CDTF">2026-05-03T10:03:02Z</dcterms:created>
  <dcterms:modified xsi:type="dcterms:W3CDTF">2026-05-03T10:03:02Z</dcterms:modified>
</cp:coreProperties>
</file>